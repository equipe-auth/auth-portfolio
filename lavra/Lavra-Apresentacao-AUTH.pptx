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539a582d-c6e7-3454-ab4c-4994f7d807fa}">
          <p14:sldIdLst>
            <p14:sldId id="256"/>
            <p14:sldId id="257"/>
          </p14:sldIdLst>
        </p14:section>
        <p14:section name="Marca e mercado" id="{b1d4c326-004a-1853-38f5-985636cd242b}">
          <p14:sldIdLst>
            <p14:sldId id="258"/>
            <p14:sldId id="259"/>
          </p14:sldIdLst>
        </p14:section>
        <p14:section name="Execução" id="{83dbc078-a783-2dce-c5fe-6bb3976a6872}">
          <p14:sldIdLst>
            <p14:sldId id="260"/>
            <p14:sldId id="261"/>
            <p14:sldId id="262"/>
          </p14:sldIdLst>
        </p14:section>
        <p14:section name="Crise e fechamento" id="{b234046b-8263-5cc0-3d15-e7cddd03c816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20 s. Boa noite. Somos a equipe AUTH e vamos apresentar o plano de ação para a ChocoArgo: a marca Lavra e as quatro ações para a crise. A ideia central cabe no slogan: do produtor à barra, sem segredo.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45 s. A ChocoArgo nasce de três fatos. Linhares responde por cerca de 70% do cacau do Espírito Santo. O P&amp;D da Argo Menthor tem uma variedade de cacau própria, de alta qualidade e resistente à vassoura-de-bruxa. E o board deixou claro: o sucesso também se mede pela renda dos pequenos produtores. O objetivo é levar o grupo para a área de alimentos, perto do consumidor, com ESG desde a origem.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50 s. A marca é Lavra. Lavrar é trabalhar a terra, e “de lavra de” quer dizer “de autoria de”: cada barra tem autor. O símbolo é uma amêndoa de cacau com cinco faixas, como sulcos de terra; a faixa terracota é o produtor, e o nome dele aparece em cada barra. A assinatura “uma marca ChocoArgo” está sempre presente: a marca não esconde a empresa nem a crise. O slogan resume a promessa: do produtor à barra, sem segredo.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50 s. Nosso consumidor tem de 28 a 50 anos, é das classes A e B, toma café especial, lê rótulos e desconfia de discurso verde sem dados. Para ele, pagar mais faz sentido quando sabe para onde vai o dinheiro. Por isso a Lavra é premium acessível. Disputamos espaço com Kopenhagen, Dengo e Lindt. Não competimos por preço: mostramos o que eles não mostram, o produtor, o lote e quanto do preço volta para o campo.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60 s. A linha de entrada é a Origem 70%: na frente, o nome da família produtora e o lote; no verso, para onde vai cada real do preço. A ideia 1 é um novo sabor: Encontros, ao leite com café conilon capixaba, que traz uma segunda família produtora e atrai quem ainda não toma 70%. A ideia 2 é um novo formato: Amêndoas Safra, bombons em forma do símbolo, cinco produtores por caixa, pensada para presente e aeroporto.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50 s. Vamos vender onde o público já está: empórios, cafeterias especiais e nosso e-commerce, com um display que leva ao QR dos produtores; e lojas de aeroporto em Vitória e Guarulhos, vitrine de presente e teste para a exportação. Na comunicação, a série “Quem plantou?” no Instagram mostra o produtor real de cada lote, e as degustações nos pontos de venda apresentam a família por trás da barra.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50 s. O plano tem quatro fases em quinze meses. Primeiro preparar a cadeia: auditar todos os fornecedores, montar o programa de produtores com prêmio de preço e registrar a marca. Depois desenvolver os produtos e a plataforma de rastreabilidade. No mês seis, lançar em empórios, cafeterias e e-commerce, com a série “Quem plantou?”. A partir do mês nove, os aeroportos. A regra é simples: nenhuma barra chega à loja antes de 100% dos fornecedores auditados.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70 s. A crise tem duas frentes. No ataque hacker, a ação 1 é externa: em 24 horas, remover o vídeo adulterado e publicar a versão verdadeira nos canais verificados. A ação 2 é interna: perícia, autenticação em dois fatores, comunicado da presidência e treinamento. Na denúncia de trabalho infantil, a ação 3 abre a cadeia: auditoria de 100% dos fornecedores, resultados no QR das barras e compromisso com o Ministério Público do Trabalho. A ação 4 não se limita a romper contratos: acompanha as crianças na escola, cria código de conduta e canal de denúncia. Princípios: falar primeiro, assumir a parte da empresa e provar o que mudou.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25 s. Para fechar: a Lavra transforma o ponto fraco da ChocoArgo em proposta de valor. Cada barra tem autor, o QR code comprova e o preço premium acessível remunera os produtores com escala. Do produtor à barra, sem segredo. Obrigado, ficamos à disposição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2A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FGV\Matéria 1 - Argo\Desafio 2\geradores\figuras\simbolo-caca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27448"/>
            <a:ext cx="155448" cy="2163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18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Lavra · uma marca ChocoArgo · Equipe AUTH · Desafio ARGo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292608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4A4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2A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FGV\Matéria 1 - Argo\Desafio 2\geradores\figuras\simbolo-pol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27448"/>
            <a:ext cx="155448" cy="2163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18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Lavra · uma marca ChocoArgo · Equipe AUTH · Desafio ARGo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292608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AD9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4A4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mbolo" descr="Símbolo Lav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914400"/>
            <a:ext cx="914400" cy="127261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83080" y="8686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Lavra</a:t>
            </a:r>
            <a:endParaRPr lang="en-US" sz="8800" dirty="0"/>
          </a:p>
        </p:txBody>
      </p:sp>
      <p:sp>
        <p:nvSpPr>
          <p:cNvPr id="4" name="Text 1"/>
          <p:cNvSpPr txBox="1"/>
          <p:nvPr/>
        </p:nvSpPr>
        <p:spPr>
          <a:xfrm>
            <a:off x="1828800" y="2103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1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marca ChocoArgo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265176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Plano de ação para a ChocoArgo e gestão de crise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611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“Do produtor à barra, sem segredo.”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343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Desafio ARGo · Etapa 2 · MBA FGV · Equipe AUTH</a:t>
            </a:r>
            <a:endParaRPr lang="en-US" sz="1200" dirty="0"/>
          </a:p>
        </p:txBody>
      </p:sp>
      <p:sp>
        <p:nvSpPr>
          <p:cNvPr id="8" name="painel"/>
          <p:cNvSpPr/>
          <p:nvPr/>
        </p:nvSpPr>
        <p:spPr>
          <a:xfrm>
            <a:off x="6263640" y="0"/>
            <a:ext cx="2880360" cy="5143500"/>
          </a:xfrm>
          <a:prstGeom prst="rect">
            <a:avLst/>
          </a:prstGeom>
          <a:solidFill>
            <a:srgbClr val="3A2820"/>
          </a:solidFill>
          <a:ln w="12700">
            <a:solidFill>
              <a:srgbClr val="3A282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11430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INTEGRANTES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146304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 Martins Seabra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Giovanna Ismael Alves de Souza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Igor Farina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Jorge Alberto Portiglioti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Nelson Atallah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Linhares, 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Outubro/2026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 que a Argo Menthor cria a ChocoArgo</a:t>
            </a:r>
            <a:endParaRPr lang="en-US" sz="3200" dirty="0"/>
          </a:p>
        </p:txBody>
      </p:sp>
      <p:sp>
        <p:nvSpPr>
          <p:cNvPr id="3" name="cartao-1"/>
          <p:cNvSpPr/>
          <p:nvPr/>
        </p:nvSpPr>
        <p:spPr>
          <a:xfrm>
            <a:off x="548640" y="1188720"/>
            <a:ext cx="25146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A1A14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70%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cacau capixaba vem de Linhares (ES), sede da ChocoArgo.</a:t>
            </a:r>
            <a:endParaRPr lang="en-US" sz="1600" dirty="0"/>
          </a:p>
        </p:txBody>
      </p:sp>
      <p:sp>
        <p:nvSpPr>
          <p:cNvPr id="6" name="cartao-2"/>
          <p:cNvSpPr/>
          <p:nvPr/>
        </p:nvSpPr>
        <p:spPr>
          <a:xfrm>
            <a:off x="3314700" y="1188720"/>
            <a:ext cx="25146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A1A14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43300" y="14173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P&amp;D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543300" y="237744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Variedade de cacau própria, de alta qualidade e resistente a pragas.</a:t>
            </a:r>
            <a:endParaRPr lang="en-US" sz="1600" dirty="0"/>
          </a:p>
        </p:txBody>
      </p:sp>
      <p:sp>
        <p:nvSpPr>
          <p:cNvPr id="9" name="cartao-3"/>
          <p:cNvSpPr/>
          <p:nvPr/>
        </p:nvSpPr>
        <p:spPr>
          <a:xfrm>
            <a:off x="6080760" y="1188720"/>
            <a:ext cx="25146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A1A14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09360" y="14173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ESG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37744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do board: mais renda para os pequenos produtores, não só vendas.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40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levar a Argo Menthor para alimentos e para perto do consumidor, com ESG desde a origem, no Brasil e na exportação.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4A4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Lavra: cada barra tem autor</a:t>
            </a:r>
            <a:endParaRPr lang="en-US" sz="3200" dirty="0"/>
          </a:p>
        </p:txBody>
      </p:sp>
      <p:sp>
        <p:nvSpPr>
          <p:cNvPr id="3" name="marca"/>
          <p:cNvSpPr/>
          <p:nvPr/>
        </p:nvSpPr>
        <p:spPr>
          <a:xfrm>
            <a:off x="548640" y="1188720"/>
            <a:ext cx="329184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A1A14">
                <a:alpha val="12000"/>
              </a:srgbClr>
            </a:outerShdw>
          </a:effectLst>
        </p:spPr>
      </p:sp>
      <p:pic>
        <p:nvPicPr>
          <p:cNvPr id="4" name="simbolo-marca" descr="Símbolo Lav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91640"/>
            <a:ext cx="777240" cy="108172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28800" y="17830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Lavra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1874520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marca ChocoArgo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429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“Do produtor à barra, sem segredo.”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206240" y="118872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14630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Lavrar é trabalhar a terra; “de lavra de” é “de autoria de”. Fácil de dizer em qualquer idioma.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224028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SÍMBOLO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25146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Amêndoa de cacau com cinco faixas. A faixa terracota é o produtor, nomeado em cada barra.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206240" y="32918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ENDOSSO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206240" y="356616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“Uma marca ChocoArgo” em todas as peças: a marca assume a empresa, não se esconde.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4A4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 quem vendemos e contra quem competimos</a:t>
            </a:r>
            <a:endParaRPr lang="en-US" sz="3200" dirty="0"/>
          </a:p>
        </p:txBody>
      </p:sp>
      <p:sp>
        <p:nvSpPr>
          <p:cNvPr id="3" name="consumidor"/>
          <p:cNvSpPr/>
          <p:nvPr/>
        </p:nvSpPr>
        <p:spPr>
          <a:xfrm>
            <a:off x="548640" y="1188720"/>
            <a:ext cx="3566160" cy="3246120"/>
          </a:xfrm>
          <a:prstGeom prst="rect">
            <a:avLst/>
          </a:prstGeom>
          <a:solidFill>
            <a:srgbClr val="1F4A42"/>
          </a:solidFill>
          <a:ln w="9525">
            <a:solidFill>
              <a:srgbClr val="1F4A42"/>
            </a:solidFill>
            <a:prstDash val="solid"/>
          </a:ln>
          <a:effectLst>
            <a:outerShdw sx="100000" sy="100000" kx="0" ky="0" algn="bl" rotWithShape="0" blurRad="76200" dist="25400" dir="5400000">
              <a:srgbClr val="2A1A14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CONSUMIDOR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a 50 anos, classes A e B, capitais do Sudeste e do Sul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 café especial, lê rótulos, dá chocolate de presente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Desconfia de discurso verde sem dados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acessível · R$ 26 a R$ 32 (80 g)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434840" y="11887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CONCORRENTES · NOSSO DIFERENCIAL</a:t>
            </a:r>
            <a:endParaRPr lang="en-US" sz="1100" dirty="0"/>
          </a:p>
        </p:txBody>
      </p:sp>
      <p:sp>
        <p:nvSpPr>
          <p:cNvPr id="8" name="concorrente-1"/>
          <p:cNvSpPr/>
          <p:nvPr/>
        </p:nvSpPr>
        <p:spPr>
          <a:xfrm>
            <a:off x="4434840" y="1554480"/>
            <a:ext cx="4160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A1A14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17720" y="1664208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Kopenhagen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66420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4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tradição e presente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44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origem única e produtor nomeado</a:t>
            </a:r>
            <a:endParaRPr lang="en-US" sz="1400" dirty="0"/>
          </a:p>
        </p:txBody>
      </p:sp>
      <p:sp>
        <p:nvSpPr>
          <p:cNvPr id="11" name="concorrente-2"/>
          <p:cNvSpPr/>
          <p:nvPr/>
        </p:nvSpPr>
        <p:spPr>
          <a:xfrm>
            <a:off x="4434840" y="2514600"/>
            <a:ext cx="4160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A1A14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17720" y="2624328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62432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4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 e origem baiana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44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lote rastreável e valor pago publicado</a:t>
            </a:r>
            <a:endParaRPr lang="en-US" sz="1400" dirty="0"/>
          </a:p>
        </p:txBody>
      </p:sp>
      <p:sp>
        <p:nvSpPr>
          <p:cNvPr id="14" name="concorrente-3"/>
          <p:cNvSpPr/>
          <p:nvPr/>
        </p:nvSpPr>
        <p:spPr>
          <a:xfrm>
            <a:off x="4434840" y="3474720"/>
            <a:ext cx="4160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A1A14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617720" y="3584448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Lindt Excellence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58444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4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importada, gôndola 70%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44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origem brasileira e história do produtor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4A4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 que vender: uma linha de entrada e duas ideias</a:t>
            </a:r>
            <a:endParaRPr lang="en-US" sz="3200" dirty="0"/>
          </a:p>
        </p:txBody>
      </p:sp>
      <p:pic>
        <p:nvPicPr>
          <p:cNvPr id="3" name="Origem 70%" descr="Origem 70%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633" y="1188720"/>
            <a:ext cx="2554334" cy="2057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3832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 DE ENTRADA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393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Origem 70%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Amargo, de origem única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44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R$ 26 a R$ 32</a:t>
            </a:r>
            <a:endParaRPr lang="en-US" sz="1400" dirty="0"/>
          </a:p>
        </p:txBody>
      </p:sp>
      <p:pic>
        <p:nvPicPr>
          <p:cNvPr id="7" name="Encontros ao leite com café" descr="Encontros ao leite com caf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88720"/>
            <a:ext cx="2560320" cy="20273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291840" y="33832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IDEIA 1 · NOVO SABOR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3291840" y="36393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Encontros ao leite com café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329184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Cacau + café conilon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44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R$ 24 a R$ 30</a:t>
            </a:r>
            <a:endParaRPr lang="en-US" sz="1400" dirty="0"/>
          </a:p>
        </p:txBody>
      </p:sp>
      <p:pic>
        <p:nvPicPr>
          <p:cNvPr id="11" name="Amêndoas Safra" descr="Amêndoas Safr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188720"/>
            <a:ext cx="2560320" cy="151757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035040" y="33832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IDEIA 2 · NOVO FORMATO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035040" y="36393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Amêndoas Safra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03504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bombons, 5 produtores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44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R$ 54 a R$ 64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4A4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Onde vender e como divulgar</a:t>
            </a:r>
            <a:endParaRPr lang="en-US" sz="3200" dirty="0"/>
          </a:p>
        </p:txBody>
      </p:sp>
      <p:pic>
        <p:nvPicPr>
          <p:cNvPr id="3" name="Empórios e cafeterias, com e‑commerce" descr="Empórios e cafeterias, com e‑commer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1874520" cy="163001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4290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 DE VENDA 1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033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Empórios e cafeterias, com e‑commerce</a:t>
            </a:r>
            <a:endParaRPr lang="en-US" sz="1600" dirty="0"/>
          </a:p>
        </p:txBody>
      </p:sp>
      <p:pic>
        <p:nvPicPr>
          <p:cNvPr id="6" name="Aeroportos de Vitória e Guarulhos" descr="Aeroportos de Vitória e Guarulh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256" y="1188720"/>
            <a:ext cx="1040088" cy="21031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606040" y="34290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 DE VENDA 2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2606040" y="37033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Aeroportos de Vitória e Guarulhos</a:t>
            </a:r>
            <a:endParaRPr lang="en-US" sz="1600" dirty="0"/>
          </a:p>
        </p:txBody>
      </p:sp>
      <p:pic>
        <p:nvPicPr>
          <p:cNvPr id="9" name="Série “Quem plantou?” no Instagram" descr="Série “Quem plantou?” no Instagra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88720"/>
            <a:ext cx="1874520" cy="18745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663440" y="34290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COMUNICAÇÃO 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4663440" y="37033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Série “Quem plantou?” no Instagram</a:t>
            </a:r>
            <a:endParaRPr lang="en-US" sz="1600" dirty="0"/>
          </a:p>
        </p:txBody>
      </p:sp>
      <p:pic>
        <p:nvPicPr>
          <p:cNvPr id="12" name="Degustação com o cartão do produtor" descr="Degustação com o cartão do produt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188720"/>
            <a:ext cx="1874520" cy="183703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720840" y="34290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COMUNICAÇÃO 2</a:t>
            </a:r>
            <a:endParaRPr lang="en-US" sz="1100" dirty="0"/>
          </a:p>
        </p:txBody>
      </p:sp>
      <p:sp>
        <p:nvSpPr>
          <p:cNvPr id="14" name="Text 8"/>
          <p:cNvSpPr txBox="1"/>
          <p:nvPr/>
        </p:nvSpPr>
        <p:spPr>
          <a:xfrm>
            <a:off x="6720840" y="37033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Degustação com o cartão do produtor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4A4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Plano de ação: cadeia limpa antes da prateleira</a:t>
            </a:r>
            <a:endParaRPr lang="en-US" sz="3200" dirty="0"/>
          </a:p>
        </p:txBody>
      </p:sp>
      <p:sp>
        <p:nvSpPr>
          <p:cNvPr id="3" name="linha-tempo"/>
          <p:cNvSpPr/>
          <p:nvPr/>
        </p:nvSpPr>
        <p:spPr>
          <a:xfrm>
            <a:off x="822960" y="1481328"/>
            <a:ext cx="7498080" cy="0"/>
          </a:xfrm>
          <a:prstGeom prst="line">
            <a:avLst/>
          </a:prstGeom>
          <a:noFill/>
          <a:ln w="25400">
            <a:solidFill>
              <a:srgbClr val="D6CBBB"/>
            </a:solidFill>
            <a:prstDash val="solid"/>
          </a:ln>
        </p:spPr>
      </p:sp>
      <p:sp>
        <p:nvSpPr>
          <p:cNvPr id="4" name="marco-1"/>
          <p:cNvSpPr/>
          <p:nvPr/>
        </p:nvSpPr>
        <p:spPr>
          <a:xfrm>
            <a:off x="685800" y="1344168"/>
            <a:ext cx="274320" cy="274320"/>
          </a:xfrm>
          <a:prstGeom prst="ellipse">
            <a:avLst/>
          </a:prstGeom>
          <a:solidFill>
            <a:srgbClr val="A4492A"/>
          </a:solidFill>
          <a:ln w="25400">
            <a:solidFill>
              <a:srgbClr val="F5E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Meses 0–4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Preparar a cadeia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146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Auditar 100% dos fornecedores, prêmio aos produtores, registro da marca</a:t>
            </a:r>
            <a:endParaRPr lang="en-US" sz="1400" dirty="0"/>
          </a:p>
        </p:txBody>
      </p:sp>
      <p:sp>
        <p:nvSpPr>
          <p:cNvPr id="8" name="marco-2"/>
          <p:cNvSpPr/>
          <p:nvPr/>
        </p:nvSpPr>
        <p:spPr>
          <a:xfrm>
            <a:off x="2743200" y="1344168"/>
            <a:ext cx="274320" cy="274320"/>
          </a:xfrm>
          <a:prstGeom prst="ellipse">
            <a:avLst/>
          </a:prstGeom>
          <a:solidFill>
            <a:srgbClr val="2A1A14"/>
          </a:solidFill>
          <a:ln w="25400">
            <a:solidFill>
              <a:srgbClr val="F5EF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0604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Meses 2–8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057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Desenvolver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5146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Produtos aprovados em teste sensorial e plataforma de rastreabilidade com QR</a:t>
            </a:r>
            <a:endParaRPr lang="en-US" sz="1400" dirty="0"/>
          </a:p>
        </p:txBody>
      </p:sp>
      <p:sp>
        <p:nvSpPr>
          <p:cNvPr id="12" name="marco-3"/>
          <p:cNvSpPr/>
          <p:nvPr/>
        </p:nvSpPr>
        <p:spPr>
          <a:xfrm>
            <a:off x="4800600" y="1344168"/>
            <a:ext cx="274320" cy="274320"/>
          </a:xfrm>
          <a:prstGeom prst="ellipse">
            <a:avLst/>
          </a:prstGeom>
          <a:solidFill>
            <a:srgbClr val="2A1A14"/>
          </a:solidFill>
          <a:ln w="25400">
            <a:solidFill>
              <a:srgbClr val="F5EF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Meses 6–12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057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Lançar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5146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Empórios, cafeterias e e-commerce; “Quem plantou?” e degustações</a:t>
            </a:r>
            <a:endParaRPr lang="en-US" sz="1400" dirty="0"/>
          </a:p>
        </p:txBody>
      </p:sp>
      <p:sp>
        <p:nvSpPr>
          <p:cNvPr id="16" name="marco-4"/>
          <p:cNvSpPr/>
          <p:nvPr/>
        </p:nvSpPr>
        <p:spPr>
          <a:xfrm>
            <a:off x="6858000" y="1344168"/>
            <a:ext cx="274320" cy="274320"/>
          </a:xfrm>
          <a:prstGeom prst="ellipse">
            <a:avLst/>
          </a:prstGeom>
          <a:solidFill>
            <a:srgbClr val="2A1A14"/>
          </a:solidFill>
          <a:ln w="25400">
            <a:solidFill>
              <a:srgbClr val="F5EF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084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Meses 9–15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057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Expandir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25146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Lojas de aeroporto em Vitória e Guarulhos; preparar a exportação</a:t>
            </a:r>
            <a:endParaRPr lang="en-US" sz="1400" dirty="0"/>
          </a:p>
        </p:txBody>
      </p:sp>
      <p:sp>
        <p:nvSpPr>
          <p:cNvPr id="20" name="regra"/>
          <p:cNvSpPr/>
          <p:nvPr/>
        </p:nvSpPr>
        <p:spPr>
          <a:xfrm>
            <a:off x="548640" y="3749040"/>
            <a:ext cx="8046720" cy="685800"/>
          </a:xfrm>
          <a:prstGeom prst="rect">
            <a:avLst/>
          </a:prstGeom>
          <a:solidFill>
            <a:srgbClr val="EAD9B8"/>
          </a:solidFill>
          <a:ln w="9525">
            <a:solidFill>
              <a:srgbClr val="EAD9B8"/>
            </a:solidFill>
            <a:prstDash val="solid"/>
          </a:ln>
          <a:effectLst>
            <a:outerShdw sx="100000" sy="100000" kx="0" ky="0" algn="bl" rotWithShape="0" blurRad="76200" dist="25400" dir="5400000">
              <a:srgbClr val="2A1A14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77240" y="37490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44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do plano: </a:t>
            </a:r>
            <a:pPr indent="0" marL="0">
              <a:buNone/>
            </a:pPr>
            <a:r>
              <a:rPr lang="en-US" sz="1600" dirty="0">
                <a:solidFill>
                  <a:srgbClr val="2A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barra Lavra na loja antes de 100% dos fornecedores auditados.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4A4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Gestão de crise: falar primeiro, assumir, provar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CRISE 1 · ATAQUE HACKER</a:t>
            </a:r>
            <a:endParaRPr lang="en-US" sz="1100" dirty="0"/>
          </a:p>
        </p:txBody>
      </p:sp>
      <p:sp>
        <p:nvSpPr>
          <p:cNvPr id="4" name="acao-1"/>
          <p:cNvSpPr/>
          <p:nvPr/>
        </p:nvSpPr>
        <p:spPr>
          <a:xfrm>
            <a:off x="548640" y="1463040"/>
            <a:ext cx="3931920" cy="1371600"/>
          </a:xfrm>
          <a:prstGeom prst="rect">
            <a:avLst/>
          </a:prstGeom>
          <a:solidFill>
            <a:srgbClr val="3A2820"/>
          </a:solidFill>
          <a:ln w="9525">
            <a:solidFill>
              <a:srgbClr val="3A2820"/>
            </a:solidFill>
            <a:prstDash val="solid"/>
          </a:ln>
          <a:effectLst>
            <a:outerShdw sx="100000" sy="100000" kx="0" ky="0" algn="bl" rotWithShape="0" blurRad="76200" dist="25400" dir="5400000">
              <a:srgbClr val="2A1A14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Versão oficial em 24 h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2996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Externo · remoção do vídeo adulterado, nota e vídeo original nos canais verificados</a:t>
            </a:r>
            <a:endParaRPr lang="en-US" sz="1400" dirty="0"/>
          </a:p>
        </p:txBody>
      </p:sp>
      <p:sp>
        <p:nvSpPr>
          <p:cNvPr id="8" name="acao-2"/>
          <p:cNvSpPr/>
          <p:nvPr/>
        </p:nvSpPr>
        <p:spPr>
          <a:xfrm>
            <a:off x="548640" y="2971800"/>
            <a:ext cx="3931920" cy="1371600"/>
          </a:xfrm>
          <a:prstGeom prst="rect">
            <a:avLst/>
          </a:prstGeom>
          <a:solidFill>
            <a:srgbClr val="3A2820"/>
          </a:solidFill>
          <a:ln w="9525">
            <a:solidFill>
              <a:srgbClr val="3A2820"/>
            </a:solidFill>
            <a:prstDash val="solid"/>
          </a:ln>
          <a:effectLst>
            <a:outerShdw sx="100000" sy="100000" kx="0" ky="0" algn="bl" rotWithShape="0" blurRad="76200" dist="25400" dir="5400000">
              <a:srgbClr val="2A1A14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" y="31089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Casa protegida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53872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Interno · perícia, dois fatores, comunicado da presidência e treinamento contra phishing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11430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CRISE 2 · TRABALHO INFANTIL</a:t>
            </a:r>
            <a:endParaRPr lang="en-US" sz="1100" dirty="0"/>
          </a:p>
        </p:txBody>
      </p:sp>
      <p:sp>
        <p:nvSpPr>
          <p:cNvPr id="13" name="acao-3"/>
          <p:cNvSpPr/>
          <p:nvPr/>
        </p:nvSpPr>
        <p:spPr>
          <a:xfrm>
            <a:off x="4663440" y="1463040"/>
            <a:ext cx="3931920" cy="1371600"/>
          </a:xfrm>
          <a:prstGeom prst="rect">
            <a:avLst/>
          </a:prstGeom>
          <a:solidFill>
            <a:srgbClr val="3A2820"/>
          </a:solidFill>
          <a:ln w="9525">
            <a:solidFill>
              <a:srgbClr val="3A2820"/>
            </a:solidFill>
            <a:prstDash val="solid"/>
          </a:ln>
          <a:effectLst>
            <a:outerShdw sx="100000" sy="100000" kx="0" ky="0" algn="bl" rotWithShape="0" blurRad="76200" dist="25400" dir="5400000">
              <a:srgbClr val="2A1A14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846320" y="16002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1645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Cadeia aberta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202996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Externo · auditoria de 100% publicada no QR, termo com o MPT e relatório a cada 90 dias</a:t>
            </a:r>
            <a:endParaRPr lang="en-US" sz="1400" dirty="0"/>
          </a:p>
        </p:txBody>
      </p:sp>
      <p:sp>
        <p:nvSpPr>
          <p:cNvPr id="17" name="acao-4"/>
          <p:cNvSpPr/>
          <p:nvPr/>
        </p:nvSpPr>
        <p:spPr>
          <a:xfrm>
            <a:off x="4663440" y="2971800"/>
            <a:ext cx="3931920" cy="1371600"/>
          </a:xfrm>
          <a:prstGeom prst="rect">
            <a:avLst/>
          </a:prstGeom>
          <a:solidFill>
            <a:srgbClr val="3A2820"/>
          </a:solidFill>
          <a:ln w="9525">
            <a:solidFill>
              <a:srgbClr val="3A2820"/>
            </a:solidFill>
            <a:prstDash val="solid"/>
          </a:ln>
          <a:effectLst>
            <a:outerShdw sx="100000" sy="100000" kx="0" ky="0" algn="bl" rotWithShape="0" blurRad="76200" dist="25400" dir="5400000">
              <a:srgbClr val="2A1A14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846320" y="31089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Remediar, não só romper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353872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Interno e produtores · crianças acompanhadas na escola, código de conduta e canal de denúncia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AD9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mbolo-fim" descr="Símbolo Lav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822960"/>
            <a:ext cx="640080" cy="89083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18745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 produtor à barra, sem segredo.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283464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Lavra transforma o ponto fraco da ChocoArgo, o controle da cadeia, na sua proposta de valor: cada barra tem autor, o QR code comprova e o preço remunera os pequenos produtores com escala.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4297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Obrigado · Gabriel · Giovanna · Igor · Jorge · Lucas · Equipe AUTH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vra">
  <a:themeElements>
    <a:clrScheme name="Lavra">
      <a:dk1>
        <a:srgbClr val="2A1A14"/>
      </a:dk1>
      <a:lt1>
        <a:srgbClr val="FFFFFF"/>
      </a:lt1>
      <a:dk2>
        <a:srgbClr val="1F4A42"/>
      </a:dk2>
      <a:lt2>
        <a:srgbClr val="F5EFE6"/>
      </a:lt2>
      <a:accent1>
        <a:srgbClr val="A4492A"/>
      </a:accent1>
      <a:accent2>
        <a:srgbClr val="EAD9B8"/>
      </a:accent2>
      <a:accent3>
        <a:srgbClr val="1F4A42"/>
      </a:accent3>
      <a:accent4>
        <a:srgbClr val="5C4A40"/>
      </a:accent4>
      <a:accent5>
        <a:srgbClr val="D6CBBB"/>
      </a:accent5>
      <a:accent6>
        <a:srgbClr val="E9A587"/>
      </a:accent6>
      <a:hlink>
        <a:srgbClr val="A4492A"/>
      </a:hlink>
      <a:folHlink>
        <a:srgbClr val="5C4A40"/>
      </a:folHlink>
    </a:clrScheme>
    <a:fontScheme name="Lavra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MBA FGV · Desafio ARGo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Lavra · Plano de ação ChocoArgo e gestão de crise</dc:title>
  <dc:subject>PptxGenJS Presentation</dc:subject>
  <dc:creator>Equipe AUTH</dc:creator>
  <cp:lastModifiedBy>Equipe AUTH</cp:lastModifiedBy>
  <cp:revision>1</cp:revision>
  <dcterms:created xsi:type="dcterms:W3CDTF">2026-10-17T23:17:39Z</dcterms:created>
  <dcterms:modified xsi:type="dcterms:W3CDTF">2026-10-17T23:17:39Z</dcterms:modified>
</cp:coreProperties>
</file>